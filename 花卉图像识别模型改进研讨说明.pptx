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1" d="100"/>
          <a:sy n="81" d="100"/>
        </p:scale>
        <p:origin x="216" y="10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同学们，这学期我们在课上一起实现过一个用 CNN 做花卉分类的 baseline。这次大作业不是让你再从头搭一个模型，而是把你自己课上写的那个模型拿来当靶子，找出它的毛病，动手改进，并用实验数字说话。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回顾一下课上的 baseline：一个朴素 CNN，固定学习率，没做数据增强，最后拿到一个测试集准确率就算交差。这次作业的起点就是这个"能跑但不够好"的模型。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这三个问题就是整份作业的骨架。Q1 是诊断，Q2 是处方，Q3 是复诊。缺任何一环都不算完成。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接下来两页讲两个最常见的 baseline 问题。你可能在其中一个或两个上都中枪。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把你的训练曲线画出来。如果出现左边红色那种训练损失一直降、验证损失往上翘的形状，就是典型过拟合。这是最容易改、也最容易出效果的问题。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第二个问题更隐蔽：平均准确率 70% 听着不错，但混淆矩阵一画出来，可能有两个类别的 recall 不到 30%。这次作业要求你必须画混淆矩阵，不能只报一个整体数字。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下面两页分别讲这两个方向。注意：不要两个方向都浅尝辄止，挑一个方向做深做透，比每个都沾一点要好。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这是见效最快的一个改法。用 PyTorch 现成的 torchvision 预训练模型，几十行代码就能跑起来。但注意：换了模型之后你还是要做对比实验，不能默认它一定更好。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这个方向不要求你换模型，就在你课上写的那个 CNN 上做文章。特别强调消融实验：不要一次性把所有技巧都加上然后说"效果好了"，要一项一项加，每一项都画一组对比曲线。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这页是给你一个"好报告长什么样"的参考。注意三列数字：整体准确率、最差类 Recall、过拟合差距。只看整体准确率会骗人，后两个才是真正的改进证据。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评分里消融实验占 30%，是最大头。不要堆技巧，要一项一项改、一项一项对比。准确率数字不是唯一标准。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这次作业的本质不是刷准确率，而是让你经历一遍完整的"诊断—改进—验证"循环。祝大家玩得开心，有问题随时来办公室聊。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7620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D1326">
                  <a:alpha val="100000"/>
                </a:srgbClr>
              </a:gs>
              <a:gs pos="60000">
                <a:srgbClr val="0D1326">
                  <a:alpha val="85000"/>
                </a:srgbClr>
              </a:gs>
              <a:gs pos="100000">
                <a:srgbClr val="0D1326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89000" y="1905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NEURAL NETWORK · COURSE PROJECT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2476500"/>
            <a:ext cx="660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花卉图像识别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模型改进大作业</a:t>
            </a:r>
          </a:p>
        </p:txBody>
      </p:sp>
      <p:cxnSp>
        <p:nvCxnSpPr>
          <p:cNvPr id="6" name="Connector 6"/>
          <p:cNvCxnSpPr/>
          <p:nvPr/>
        </p:nvCxnSpPr>
        <p:spPr>
          <a:xfrm rot="-42969">
            <a:off x="889040" y="4311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889000" y="4572000"/>
            <a:ext cx="635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从课上"能跑通"的基线模型出发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找出问题 → 改进 → 用实验证明效果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6350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课程回顾 · WHERE WE STARTED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1016000"/>
            <a:ext cx="685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课上我们已经做过什么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0" y="889000"/>
            <a:ext cx="3683000" cy="3683000"/>
          </a:xfrm>
          <a:prstGeom prst="roundRect">
            <a:avLst>
              <a:gd name="adj" fmla="val 413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0" y="46736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常见花卉类别示例（教学数据集）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7015">
            <a:off x="889006" y="2279650"/>
            <a:ext cx="622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2540000"/>
            <a:ext cx="685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5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5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数据集：花卉多分类</a:t>
            </a:r>
            <a:endParaRPr lang="en-US" sz="1100" dirty="0"/>
          </a:p>
          <a:p>
            <a:pPr marL="0" indent="0" algn="l">
              <a:lnSpc>
                <a:spcPct val="158333"/>
              </a:lnSpc>
            </a:pPr>
            <a:r>
              <a:rPr lang="en-US" sz="15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模型：2~4 </a:t>
            </a:r>
            <a:r>
              <a:rPr lang="en-US" sz="15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层朴素</a:t>
            </a:r>
            <a:r>
              <a:rPr lang="en-US" sz="15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CNN（Conv</a:t>
            </a:r>
            <a:r>
              <a:rPr lang="en-US" sz="15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→ Pool → FC）</a:t>
            </a:r>
          </a:p>
          <a:p>
            <a:pPr marL="0" indent="0" algn="l">
              <a:lnSpc>
                <a:spcPct val="158333"/>
              </a:lnSpc>
            </a:pPr>
            <a:r>
              <a:rPr lang="en-US" sz="15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5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训练：固定学习率、裸</a:t>
            </a:r>
            <a:r>
              <a:rPr lang="en-US" sz="15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SGD / </a:t>
            </a:r>
            <a:r>
              <a:rPr lang="en-US" sz="15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Adam、无增强</a:t>
            </a:r>
            <a:endParaRPr lang="en-US" sz="1500" b="0" i="0" u="none" strike="noStrike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333"/>
              </a:lnSpc>
            </a:pPr>
            <a:r>
              <a:rPr lang="en-US" sz="15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5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验收：跑出训练曲线，在测试集拿一个准确率数字</a:t>
            </a:r>
            <a:endParaRPr lang="en-US" sz="1500" b="0" i="0" u="none" strike="noStrike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89000" y="5080000"/>
            <a:ext cx="7112000" cy="1016000"/>
          </a:xfrm>
          <a:prstGeom prst="roundRect">
            <a:avLst>
              <a:gd name="adj" fmla="val 0"/>
            </a:avLst>
          </a:prstGeom>
          <a:solidFill>
            <a:srgbClr val="DC262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5270500"/>
            <a:ext cx="660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但是</a:t>
            </a:r>
            <a:r>
              <a:rPr lang="en-US" sz="1400" b="0" i="0" u="none" strike="noStrike" dirty="0" err="1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：你的模型在训练集上可能</a:t>
            </a:r>
            <a:r>
              <a:rPr lang="en-US" sz="1400" b="0" i="0" u="none" strike="noStrike" dirty="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 95%，</a:t>
            </a:r>
            <a:r>
              <a:rPr lang="en-US" sz="1400" b="0" i="0" u="none" strike="noStrike" dirty="0" err="1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测试集却只有</a:t>
            </a:r>
            <a:r>
              <a:rPr lang="en-US" sz="1400" b="0" i="0" u="none" strike="noStrike" dirty="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400" b="0" i="0" u="none" strike="noStrike" dirty="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en-US" sz="1400" b="0" i="0" u="none" strike="noStrike" dirty="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0% </a:t>
            </a:r>
            <a:r>
              <a:rPr lang="en-US" sz="1400" b="0" i="0" u="none" strike="noStrike" dirty="0" err="1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多</a:t>
            </a:r>
            <a:r>
              <a:rPr lang="en-US" sz="1400" b="0" i="0" u="none" strike="noStrike" dirty="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某些花类认得出，某些花类一认就错</a:t>
            </a:r>
            <a:r>
              <a:rPr lang="en-US" sz="1400" b="0" i="0" u="none" strike="noStrike" dirty="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</a:t>
            </a:r>
            <a:r>
              <a:rPr lang="en-US" sz="1400" b="0" i="0" u="none" strike="noStrike" dirty="0" err="1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这就是这次要解决的问题</a:t>
            </a:r>
            <a:r>
              <a:rPr lang="en-US" sz="1400" b="0" i="0" u="none" strike="noStrike" dirty="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76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这次作业要你回答三个问题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12065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不是重新训练一遍，是讲清楚这件事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2279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89000" y="2667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Q1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2730500"/>
            <a:ext cx="901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原来的模型或训练策略，到底存在什么问题？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3175000"/>
            <a:ext cx="901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用训练曲线、混淆矩阵、分类别准确率等证据定位问题，不能只说"准确率不高"。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192">
            <a:off x="889004" y="38671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4127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4191000"/>
            <a:ext cx="901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你打算怎么改？为什么这个改动能解决你定位的问题？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86000" y="4635500"/>
            <a:ext cx="901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架构、训练策略、数据处理三选一或组合，讲清楚动机，不要堆术语。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192">
            <a:off x="889004" y="5327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89000" y="5524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Q3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5588000"/>
            <a:ext cx="901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改进之后，结果到底好了多少？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127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PART A · DIAGNOSE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2286000"/>
            <a:ext cx="1041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你的 baseline 准确率不够，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3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到底"不够"在哪？</a:t>
            </a:r>
          </a:p>
        </p:txBody>
      </p:sp>
      <p:cxnSp>
        <p:nvCxnSpPr>
          <p:cNvPr id="4" name="Connector 4"/>
          <p:cNvCxnSpPr/>
          <p:nvPr/>
        </p:nvCxnSpPr>
        <p:spPr>
          <a:xfrm rot="-42969">
            <a:off x="889040" y="481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889000" y="5080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不要盯着一个准确率数字，先把训练曲线和混淆矩阵画出来，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大多数问题会自己冒出来。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6350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1 · 过拟合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1016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训练集 95%，测试集 60%——典型过拟合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" r="100"/>
          <a:stretch>
            <a:fillRect/>
          </a:stretch>
        </p:blipFill>
        <p:spPr>
          <a:xfrm>
            <a:off x="7239000" y="1016000"/>
            <a:ext cx="4191000" cy="3149600"/>
          </a:xfrm>
          <a:prstGeom prst="roundRect">
            <a:avLst>
              <a:gd name="adj" fmla="val 322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239000" y="4254500"/>
            <a:ext cx="419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训练/验证损失曲线对比（示意）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7314">
            <a:off x="889007" y="21526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2413000"/>
            <a:ext cx="5969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怎么判断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训练损失持续下降，验证损失在中途拐头向上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训练准确率接近 100%，测试准确率明显低一截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对训练集图像背得很熟，换一张同类别新图就认错</a:t>
            </a:r>
          </a:p>
        </p:txBody>
      </p:sp>
      <p:sp>
        <p:nvSpPr>
          <p:cNvPr id="8" name="AutoShape 8"/>
          <p:cNvSpPr/>
          <p:nvPr/>
        </p:nvSpPr>
        <p:spPr>
          <a:xfrm>
            <a:off x="889000" y="5207000"/>
            <a:ext cx="10414000" cy="889000"/>
          </a:xfrm>
          <a:prstGeom prst="roundRect">
            <a:avLst>
              <a:gd name="adj" fmla="val 0"/>
            </a:avLst>
          </a:prstGeom>
          <a:solidFill>
            <a:srgbClr val="DC262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5397500"/>
            <a:ext cx="990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常见根因</a:t>
            </a:r>
            <a:r>
              <a:rPr lang="en-US" sz="14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：模型容量相对数据量太大、没有任何正则化、输入未做数据增强、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训练 epoch 过多。这些都可以在不换模型的前提下改进。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6350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2 · 不是所有花都认得出来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平均准确率被"好认的花"拉高了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9621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89000" y="2286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症状：分类别准确率严重不均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7940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玫瑰、向日葵认得很准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相似的两种雏菊、不同品种的郁金香经常互认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样本少的类别准确率只有 30~40%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整体准确率看着还行，但拆开来一地鸡毛</a:t>
            </a:r>
          </a:p>
        </p:txBody>
      </p:sp>
      <p:cxnSp>
        <p:nvCxnSpPr>
          <p:cNvPr id="7" name="Connector 7"/>
          <p:cNvCxnSpPr/>
          <p:nvPr/>
        </p:nvCxnSpPr>
        <p:spPr>
          <a:xfrm rot="5384373">
            <a:off x="4699000" y="3676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477000" y="2286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根因：数据 + 特征提取能力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7940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各类别样本数不平衡，少数类学不到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2~4 层浅 CNN 特征提取能力弱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颜色相近、形状相似的花类，低级特征分不开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没有用预训练模型，相当于从零学视觉概念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89000" y="5334000"/>
            <a:ext cx="10414000" cy="762000"/>
          </a:xfrm>
          <a:prstGeom prst="roundRect">
            <a:avLst>
              <a:gd name="adj" fmla="val 0"/>
            </a:avLst>
          </a:prstGeom>
          <a:solidFill>
            <a:srgbClr val="DC262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54864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必做动作</a:t>
            </a:r>
            <a:r>
              <a:rPr lang="en-US" sz="14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：画一张混淆矩阵，统计每个类别的 precision / recall。这是你后面改进的"病灶图"。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127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PART B · IMPROVE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2286000"/>
            <a:ext cx="1041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找到了问题，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3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你可以从哪两个方向动手？</a:t>
            </a:r>
          </a:p>
        </p:txBody>
      </p:sp>
      <p:cxnSp>
        <p:nvCxnSpPr>
          <p:cNvPr id="4" name="Connector 4"/>
          <p:cNvCxnSpPr/>
          <p:nvPr/>
        </p:nvCxnSpPr>
        <p:spPr>
          <a:xfrm rot="-42969">
            <a:off x="889040" y="481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889000" y="5080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方向一：换更强的模型架构；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方向二：改训练策略。可以二选一，也可以组合。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6350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改进方向 1 · 模型架构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1016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4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从简单CNN</a:t>
            </a:r>
            <a:r>
              <a:rPr lang="en-US" sz="24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到预训练迁移学习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0" y="1016000"/>
            <a:ext cx="4318000" cy="3238500"/>
          </a:xfrm>
          <a:prstGeom prst="roundRect">
            <a:avLst>
              <a:gd name="adj" fmla="val 313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112000" y="43434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浅</a:t>
            </a:r>
            <a:r>
              <a:rPr lang="en-US" sz="11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CNN </a:t>
            </a:r>
            <a:r>
              <a:rPr lang="en-US" sz="11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结构示意课上写的那种</a:t>
            </a:r>
            <a:r>
              <a:rPr lang="en-US" sz="11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 rot="-7473">
            <a:off x="889007" y="21526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2413000"/>
            <a:ext cx="5842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可以怎么做</a:t>
            </a: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换用</a:t>
            </a: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</a:t>
            </a:r>
            <a:r>
              <a:rPr lang="zh-CN" alt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等更大规模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架构</a:t>
            </a:r>
            <a:endParaRPr lang="en-US" sz="1400" b="0" i="0" u="none" strike="noStrike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加载</a:t>
            </a: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ImageNet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预训练权重，冻结骨干网络</a:t>
            </a:r>
            <a:endParaRPr lang="en-US" sz="1400" b="0" i="0" u="none" strike="noStrike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只在顶层加一个新的分类头，用你的花卉数据微调</a:t>
            </a:r>
            <a:endParaRPr lang="en-US" sz="1400" b="0" i="0" u="none" strike="noStrike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进一步：放开最后几层做</a:t>
            </a: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fine-tune</a:t>
            </a:r>
          </a:p>
        </p:txBody>
      </p:sp>
      <p:sp>
        <p:nvSpPr>
          <p:cNvPr id="8" name="AutoShape 8"/>
          <p:cNvSpPr/>
          <p:nvPr/>
        </p:nvSpPr>
        <p:spPr>
          <a:xfrm>
            <a:off x="889000" y="5524500"/>
            <a:ext cx="10414000" cy="698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5676900"/>
            <a:ext cx="990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为什么有效</a:t>
            </a:r>
            <a:r>
              <a:rPr lang="en-US" sz="1400" b="0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：预训练模型已经学会了通用视觉特征（边缘、纹理、形状），不用从零开始，小数据集也能收敛得更好。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635000"/>
            <a:ext cx="635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改进方向 2 · 训练策略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1016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不换模型，把训练流程做对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0" y="1016000"/>
            <a:ext cx="4318000" cy="3238500"/>
          </a:xfrm>
          <a:prstGeom prst="roundRect">
            <a:avLst>
              <a:gd name="adj" fmla="val 313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112000" y="43434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数据增强常见变换（示意）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7473">
            <a:off x="889007" y="21526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2413000"/>
            <a:ext cx="584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可以从这几处下手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数据增强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：随机翻转、裁剪、旋转、颜色抖动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正则化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：Dropout、Weight Decay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学习率调度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：余弦退火 / StepLR，不要全程一个 LR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类别不平衡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：加权采样、类别权重 loss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1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早停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：验证损失不降就停，别死磕 epoch</a:t>
            </a:r>
          </a:p>
        </p:txBody>
      </p:sp>
      <p:sp>
        <p:nvSpPr>
          <p:cNvPr id="8" name="AutoShape 8"/>
          <p:cNvSpPr/>
          <p:nvPr/>
        </p:nvSpPr>
        <p:spPr>
          <a:xfrm>
            <a:off x="889000" y="5651500"/>
            <a:ext cx="10414000" cy="571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57785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</a:t>
            </a:r>
            <a:r>
              <a:rPr lang="en-US" sz="1400" b="0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：每加一项改进，单独做一组消融实验，说明它贡献了多少。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635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一个完整长什么样 · ILLUSTRATIVE EXAMPLE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参考样例：从 62% 到 89% 是怎么走过来的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1714500"/>
            <a:ext cx="1041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下表数字为教学示意，非真实实验结果，仅用于说明报告应有的结构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278468"/>
              </p:ext>
            </p:extLst>
          </p:nvPr>
        </p:nvGraphicFramePr>
        <p:xfrm>
          <a:off x="889000" y="2286000"/>
          <a:ext cx="10414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测试准确率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最差类 Recall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过拟合差距（训练-测试）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Baseline：浅 CNN，无增强，固定 LR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62%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31%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 个百分点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 数据增强 + Weight Decay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74%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 个百分点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 ResNet</a:t>
                      </a:r>
                      <a:r>
                        <a:rPr lang="en-US" altLang="zh-CN" sz="1300" b="0" i="0" u="none" strike="noStrik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52</a:t>
                      </a:r>
                      <a:r>
                        <a:rPr lang="en-US" sz="1300" b="0" i="0" u="none" strike="noStrik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预训练迁移学习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72%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 个百分点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+ 类别加权 + 学习率微调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89%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83%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 </a:t>
                      </a:r>
                      <a:r>
                        <a:rPr lang="en-US" sz="1300" b="0" i="0" u="none" strike="noStrike" dirty="0" err="1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个百分点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889000" y="5588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报告里要写清楚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：每一步加了什么、对应提升了多少、最差类别的 Recall 有没有改善、过拟合差距有没有缩小。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76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DELIVERABLES · </a:t>
            </a:r>
            <a:r>
              <a:rPr lang="en-US" sz="1200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研讨</a:t>
            </a:r>
            <a:r>
              <a:rPr lang="en-US" sz="1200" b="0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与评分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889000" y="1143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研讨</a:t>
            </a:r>
            <a:r>
              <a:rPr lang="en-US" sz="28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什么，怎么打分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9046">
            <a:off x="889008" y="202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89000" y="2286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研讨</a:t>
            </a:r>
            <a:r>
              <a:rPr lang="en-US" sz="18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清单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889000" y="23622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200000"/>
              </a:lnSpc>
              <a:defRPr/>
            </a:pP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baseline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与各改进版的训练曲线</a:t>
            </a:r>
            <a:endParaRPr lang="en-US" sz="1400" b="0" i="0" u="none" strike="noStrike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200000"/>
              </a:lnSpc>
            </a:pP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混淆矩阵</a:t>
            </a: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分类别指标表</a:t>
            </a:r>
            <a:endParaRPr lang="en-US" sz="1400" b="0" i="0" u="none" strike="noStrike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200000"/>
              </a:lnSpc>
            </a:pP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实验报告：问题诊断</a:t>
            </a: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改进动机</a:t>
            </a: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结果</a:t>
            </a: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局限</a:t>
            </a:r>
            <a:endParaRPr lang="en-US" sz="1400" b="0" i="0" u="none" strike="noStrike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200000"/>
              </a:lnSpc>
            </a:pPr>
            <a:r>
              <a:rPr lang="en-US" sz="1400" b="0" i="0" u="none" strike="noStrike" dirty="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关键错例的可视化分析</a:t>
            </a:r>
            <a:endParaRPr lang="en-US" sz="1400" b="0" i="0" u="none" strike="noStrike" dirty="0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7" name="Connector 7"/>
          <p:cNvCxnSpPr/>
          <p:nvPr/>
        </p:nvCxnSpPr>
        <p:spPr>
          <a:xfrm rot="-8384">
            <a:off x="6096008" y="2025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096000" y="228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评分权重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0" y="2794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25%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0" y="279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问题诊断是否到位（曲线、混淆矩阵）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0" y="3365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25%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85000" y="3365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改进方案的合理性与动机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3937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30%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985000" y="3937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消融实验设计与结果说服力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4508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20%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985000" y="450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报告清晰度与局限性反思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000" y="5588000"/>
            <a:ext cx="10414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143000" y="57404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提醒</a:t>
            </a:r>
            <a:r>
              <a:rPr lang="en-US" sz="1400" b="0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：不要求准确率刷到最高，要求你把"为什么改、改了什么、效果如何"讲清楚。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FINAL NOTE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2413000"/>
            <a:ext cx="1041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把课上那个"能跑"的模型，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改成你自己真正理解的模型。</a:t>
            </a:r>
          </a:p>
        </p:txBody>
      </p:sp>
      <p:cxnSp>
        <p:nvCxnSpPr>
          <p:cNvPr id="4" name="Connector 4"/>
          <p:cNvCxnSpPr/>
          <p:nvPr/>
        </p:nvCxnSpPr>
        <p:spPr>
          <a:xfrm rot="-42969">
            <a:off x="889040" y="4946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889000" y="5207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允许使用大模型辅助写代码、查资料；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但问题诊断、改进决策、结果判断必须是你自己的思考——报告末尾请附 AI 使用说明。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08E3BA-7CFC-5651-2F09-6A6ED9D7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381000"/>
            <a:ext cx="46482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1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743</Words>
  <Application>Microsoft Macintosh PowerPoint</Application>
  <PresentationFormat>宽屏</PresentationFormat>
  <Paragraphs>157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林 赵</cp:lastModifiedBy>
  <cp:revision>3</cp:revision>
  <dcterms:modified xsi:type="dcterms:W3CDTF">2026-09-24T02:02:05Z</dcterms:modified>
</cp:coreProperties>
</file>